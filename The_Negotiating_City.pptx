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914400"/>
            <a:ext cx="594360" cy="1097280"/>
          </a:xfrm>
          <a:prstGeom prst="rect">
            <a:avLst/>
          </a:prstGeom>
          <a:solidFill>
            <a:srgbClr val="0B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2148840"/>
            <a:ext cx="594360" cy="1097280"/>
          </a:xfrm>
          <a:prstGeom prst="rect">
            <a:avLst/>
          </a:prstGeom>
          <a:solidFill>
            <a:srgbClr val="0B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383280"/>
            <a:ext cx="594360" cy="1097280"/>
          </a:xfrm>
          <a:prstGeom prst="rect">
            <a:avLst/>
          </a:prstGeom>
          <a:solidFill>
            <a:srgbClr val="0B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4617720"/>
            <a:ext cx="594360" cy="1097280"/>
          </a:xfrm>
          <a:prstGeom prst="rect">
            <a:avLst/>
          </a:prstGeom>
          <a:solidFill>
            <a:srgbClr val="0B3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30768" y="914400"/>
            <a:ext cx="594360" cy="1097280"/>
          </a:xfrm>
          <a:prstGeom prst="rect">
            <a:avLst/>
          </a:prstGeom>
          <a:solidFill>
            <a:srgbClr val="17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30768" y="2148840"/>
            <a:ext cx="594360" cy="1097280"/>
          </a:xfrm>
          <a:prstGeom prst="rect">
            <a:avLst/>
          </a:prstGeom>
          <a:solidFill>
            <a:srgbClr val="17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30768" y="3383280"/>
            <a:ext cx="594360" cy="1097280"/>
          </a:xfrm>
          <a:prstGeom prst="rect">
            <a:avLst/>
          </a:prstGeom>
          <a:solidFill>
            <a:srgbClr val="17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30768" y="4617720"/>
            <a:ext cx="594360" cy="1097280"/>
          </a:xfrm>
          <a:prstGeom prst="rect">
            <a:avLst/>
          </a:prstGeom>
          <a:solidFill>
            <a:srgbClr val="17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89136" y="914400"/>
            <a:ext cx="594360" cy="1097280"/>
          </a:xfrm>
          <a:prstGeom prst="rect">
            <a:avLst/>
          </a:prstGeom>
          <a:solidFill>
            <a:srgbClr val="30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2148840"/>
            <a:ext cx="594360" cy="1097280"/>
          </a:xfrm>
          <a:prstGeom prst="rect">
            <a:avLst/>
          </a:prstGeom>
          <a:solidFill>
            <a:srgbClr val="30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89136" y="3383280"/>
            <a:ext cx="594360" cy="1097280"/>
          </a:xfrm>
          <a:prstGeom prst="rect">
            <a:avLst/>
          </a:prstGeom>
          <a:solidFill>
            <a:srgbClr val="30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89136" y="4617720"/>
            <a:ext cx="594360" cy="1097280"/>
          </a:xfrm>
          <a:prstGeom prst="rect">
            <a:avLst/>
          </a:prstGeom>
          <a:solidFill>
            <a:srgbClr val="303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47504" y="914400"/>
            <a:ext cx="594360" cy="1097280"/>
          </a:xfrm>
          <a:prstGeom prst="rect">
            <a:avLst/>
          </a:prstGeom>
          <a:solidFill>
            <a:srgbClr val="2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47504" y="2148840"/>
            <a:ext cx="594360" cy="1097280"/>
          </a:xfrm>
          <a:prstGeom prst="rect">
            <a:avLst/>
          </a:prstGeom>
          <a:solidFill>
            <a:srgbClr val="2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47504" y="3383280"/>
            <a:ext cx="594360" cy="1097280"/>
          </a:xfrm>
          <a:prstGeom prst="rect">
            <a:avLst/>
          </a:prstGeom>
          <a:solidFill>
            <a:srgbClr val="2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47504" y="4617720"/>
            <a:ext cx="594360" cy="1097280"/>
          </a:xfrm>
          <a:prstGeom prst="rect">
            <a:avLst/>
          </a:prstGeom>
          <a:solidFill>
            <a:srgbClr val="222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05872" y="914400"/>
            <a:ext cx="594360" cy="1097280"/>
          </a:xfrm>
          <a:prstGeom prst="rect">
            <a:avLst/>
          </a:prstGeom>
          <a:solidFill>
            <a:srgbClr val="31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405872" y="2148840"/>
            <a:ext cx="594360" cy="1097280"/>
          </a:xfrm>
          <a:prstGeom prst="rect">
            <a:avLst/>
          </a:prstGeom>
          <a:solidFill>
            <a:srgbClr val="31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405872" y="3383280"/>
            <a:ext cx="594360" cy="1097280"/>
          </a:xfrm>
          <a:prstGeom prst="rect">
            <a:avLst/>
          </a:prstGeom>
          <a:solidFill>
            <a:srgbClr val="31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405872" y="4617720"/>
            <a:ext cx="594360" cy="1097280"/>
          </a:xfrm>
          <a:prstGeom prst="rect">
            <a:avLst/>
          </a:prstGeom>
          <a:solidFill>
            <a:srgbClr val="31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064240" y="914400"/>
            <a:ext cx="594360" cy="1097280"/>
          </a:xfrm>
          <a:prstGeom prst="rect">
            <a:avLst/>
          </a:prstGeom>
          <a:solidFill>
            <a:srgbClr val="2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064240" y="2148840"/>
            <a:ext cx="594360" cy="1097280"/>
          </a:xfrm>
          <a:prstGeom prst="rect">
            <a:avLst/>
          </a:prstGeom>
          <a:solidFill>
            <a:srgbClr val="2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064240" y="3383280"/>
            <a:ext cx="594360" cy="1097280"/>
          </a:xfrm>
          <a:prstGeom prst="rect">
            <a:avLst/>
          </a:prstGeom>
          <a:solidFill>
            <a:srgbClr val="2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064240" y="4617720"/>
            <a:ext cx="594360" cy="1097280"/>
          </a:xfrm>
          <a:prstGeom prst="rect">
            <a:avLst/>
          </a:prstGeom>
          <a:solidFill>
            <a:srgbClr val="203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30768" y="2148840"/>
            <a:ext cx="59436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47504" y="914400"/>
            <a:ext cx="594360" cy="109728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1005840"/>
            <a:ext cx="292608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1033271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Calibri"/>
              </a:rPr>
              <a:t>MULTI-AGENT URBAN CO-DESIGN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15544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CAD7E8"/>
                </a:solidFill>
                <a:latin typeface="Calibri"/>
              </a:rPr>
              <a:t>The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24028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Calibri"/>
              </a:rPr>
              <a:t>Negotiating 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5204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0E0EF"/>
                </a:solidFill>
                <a:latin typeface="Calibri"/>
              </a:rPr>
              <a:t>An Interactive Urban Co-Design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20624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AD7E8"/>
                </a:solidFill>
                <a:latin typeface="Calibri"/>
              </a:rPr>
              <a:t>Where AI stakeholders negotiate, vote, and build
public spaces through democratic consensus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943600"/>
            <a:ext cx="2286000" cy="4114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943600"/>
            <a:ext cx="54864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9618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7E8"/>
                </a:solidFill>
                <a:latin typeface="Calibri"/>
              </a:rPr>
              <a:t>🏙 AI Agents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5943600"/>
            <a:ext cx="2286000" cy="4114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26080" y="5943600"/>
            <a:ext cx="54864" cy="41148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63240" y="59618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7E8"/>
                </a:solidFill>
                <a:latin typeface="Calibri"/>
              </a:rPr>
              <a:t>🗳 Voting System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5943600"/>
            <a:ext cx="2286000" cy="4114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94960" y="5943600"/>
            <a:ext cx="54864" cy="41148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32120" y="59618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7E8"/>
                </a:solidFill>
                <a:latin typeface="Calibri"/>
              </a:rPr>
              <a:t>🌿 Generative Design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5943600"/>
            <a:ext cx="2286000" cy="4114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63840" y="5943600"/>
            <a:ext cx="54864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01000" y="59618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7E8"/>
                </a:solidFill>
                <a:latin typeface="Calibri"/>
              </a:rPr>
              <a:t>🤝 Negotiation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10058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Urban planning rarely captures the full human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38404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640080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Calibri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Top-Down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7E8"/>
                </a:solidFill>
                <a:latin typeface="Calibri"/>
              </a:rPr>
              <a:t>Urban spaces are typically designed by planners alone, missing the needs of the actual community.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371600"/>
            <a:ext cx="3657600" cy="38404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371600"/>
            <a:ext cx="3657600" cy="64008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508760"/>
            <a:ext cx="640080" cy="640080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5087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Calibri"/>
              </a:rPr>
              <a:t>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3042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Conflicting Voices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83464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7E8"/>
                </a:solidFill>
                <a:latin typeface="Calibri"/>
              </a:rPr>
              <a:t>Children, seniors, business owners, environmentalists — each group has radically different priorities.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657600" cy="38404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6576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508760"/>
            <a:ext cx="6400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5087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Calibri"/>
              </a:rPr>
              <a:t>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30428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Static Prototypes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83464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7E8"/>
                </a:solidFill>
                <a:latin typeface="Calibri"/>
              </a:rPr>
              <a:t>Traditional design tools create fixed blueprints, unable to model negotiation or compromise dynamically.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94960"/>
            <a:ext cx="11430000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589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✅  Solution: Simulate real community negotiations with AI stakeholders who propose, react, vote, and build together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144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C54B"/>
                </a:solidFill>
                <a:latin typeface="Calibri"/>
              </a:rPr>
              <a:t>PLATFORM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How The Negotiating City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697480" cy="4114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6974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1371600"/>
            <a:ext cx="68580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Agent
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017520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AD7E8"/>
                </a:solidFill>
                <a:latin typeface="Calibri"/>
              </a:rPr>
              <a:t>A stakeholder AI proposes a design element (bench, tree, playground…)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3154680"/>
            <a:ext cx="2286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234440"/>
            <a:ext cx="2697480" cy="4114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234440"/>
            <a:ext cx="2697480" cy="54864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685800" cy="68580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240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Peer
Reaction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3017520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AD7E8"/>
                </a:solidFill>
                <a:latin typeface="Calibri"/>
              </a:rPr>
              <a:t>Other agents react — satisfaction scores rise or fall based on their persona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3154680"/>
            <a:ext cx="228600" cy="64008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234440"/>
            <a:ext cx="2697480" cy="4114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234440"/>
            <a:ext cx="269748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0" y="1371600"/>
            <a:ext cx="685800" cy="6858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240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Canvas
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017520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AD7E8"/>
                </a:solidFill>
                <a:latin typeface="Calibri"/>
              </a:rPr>
              <a:t>The design element is drawn onto the visual public-space canvas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3154680"/>
            <a:ext cx="228600" cy="6400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1234440"/>
            <a:ext cx="2697480" cy="4114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1234440"/>
            <a:ext cx="26974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49840" y="1371600"/>
            <a:ext cx="68580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22402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Democratic
Vote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592" y="3017520"/>
            <a:ext cx="2423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AD7E8"/>
                </a:solidFill>
                <a:latin typeface="Calibri"/>
              </a:rPr>
              <a:t>Every few turns, a 70% consensus vote is held to ratify the design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577840"/>
            <a:ext cx="11430000" cy="777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5577840"/>
            <a:ext cx="64008" cy="77724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64184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CAD7E8"/>
                </a:solidFill>
                <a:latin typeface="Calibri"/>
              </a:rPr>
              <a:t>The result: A living, emergent urban design shaped by empathy, trade-offs, and collective intelligence — not a single planner's vision.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144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72CF"/>
                </a:solidFill>
                <a:latin typeface="Calibri"/>
              </a:rPr>
              <a:t>THE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Five Distinct AI Stakeholder Personas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2194560" cy="47091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19456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24127" y="1371600"/>
            <a:ext cx="685800" cy="6858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👩‍👧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402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Young Mother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2057400" cy="292608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9806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  <a:latin typeface="Calibri"/>
              </a:rPr>
              <a:t>PRIORITIES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5468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7E8"/>
                </a:solidFill>
                <a:latin typeface="Calibri"/>
              </a:rPr>
              <a:t>Safety, playgrounds, stroller-friendly paths, child-safe zones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6177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0E0EF"/>
                </a:solidFill>
                <a:latin typeface="Calibri"/>
              </a:rPr>
              <a:t>Prioritizes family wellbeing and accessible design for children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39" y="1234440"/>
            <a:ext cx="2194560" cy="47091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39" y="1234440"/>
            <a:ext cx="2194560" cy="54864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5847" y="1371600"/>
            <a:ext cx="685800" cy="68580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7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79" y="22402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Café Owner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79" y="2788920"/>
            <a:ext cx="2057400" cy="292608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79" y="279806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  <a:latin typeface="Calibri"/>
              </a:rPr>
              <a:t>PRIORITIES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79" y="315468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7E8"/>
                </a:solidFill>
                <a:latin typeface="Calibri"/>
              </a:rPr>
              <a:t>Foot traffic, outdoor seating, commercial viability, 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79" y="46177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0E0EF"/>
                </a:solidFill>
                <a:latin typeface="Calibri"/>
              </a:rPr>
              <a:t>Seeks spaces that attract customers and support business growth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59" y="1234440"/>
            <a:ext cx="2194560" cy="47091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37759" y="1234440"/>
            <a:ext cx="219456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87568" y="1371600"/>
            <a:ext cx="685800" cy="6858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199" y="22402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Environmentalist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199" y="2788920"/>
            <a:ext cx="2057400" cy="29260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199" y="279806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  <a:latin typeface="Calibri"/>
              </a:rPr>
              <a:t>PRIORITIES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199" y="315468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7E8"/>
                </a:solidFill>
                <a:latin typeface="Calibri"/>
              </a:rPr>
              <a:t>Green spaces, trees, biodiversity, low carbon footprint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199" y="46177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0E0EF"/>
                </a:solidFill>
                <a:latin typeface="Calibri"/>
              </a:rPr>
              <a:t>Champions ecological balance and sustainable urban ecosystems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9479" y="1234440"/>
            <a:ext cx="2194560" cy="47091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69479" y="1234440"/>
            <a:ext cx="21945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19288" y="1371600"/>
            <a:ext cx="68580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9288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19" y="22402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Senior Citizen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60919" y="2788920"/>
            <a:ext cx="205740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19" y="279806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  <a:latin typeface="Calibri"/>
              </a:rPr>
              <a:t>PRIORITIES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19" y="315468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7E8"/>
                </a:solidFill>
                <a:latin typeface="Calibri"/>
              </a:rPr>
              <a:t>Benches, low-gradient paths, quiet zones, medical accessibility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19" y="46177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0E0EF"/>
                </a:solidFill>
                <a:latin typeface="Calibri"/>
              </a:rPr>
              <a:t>Advocates for inclusive, low-barrier design for the elderly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1234440"/>
            <a:ext cx="2194560" cy="47091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601200" y="1234440"/>
            <a:ext cx="21945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351008" y="1371600"/>
            <a:ext cx="68580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51008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22402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Teenager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92640" y="2788920"/>
            <a:ext cx="2057400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2798064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  <a:latin typeface="Calibri"/>
              </a:rPr>
              <a:t>PRIORITIES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315468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7E8"/>
                </a:solidFill>
                <a:latin typeface="Calibri"/>
              </a:rPr>
              <a:t>Skate parks, social hangouts, WiFi, vibrant public art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92640" y="46177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0E0EF"/>
                </a:solidFill>
                <a:latin typeface="Calibri"/>
              </a:rPr>
              <a:t>Pushes for youth-oriented, energetic, expressive public spaces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144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Calibri"/>
              </a:rPr>
              <a:t>NEGOTIATION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Turn-Based Negotiation &amp; Satisfaction Dynamics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303520" cy="48006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Calibri"/>
              </a:rPr>
              <a:t>How Each Turn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457200" cy="4572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AD7E8"/>
                </a:solidFill>
                <a:latin typeface="Calibri"/>
              </a:rPr>
              <a:t>Active agent selects a design element to propose based on their persona and current satisfaction 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70048"/>
            <a:ext cx="457200" cy="4572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70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715768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AD7E8"/>
                </a:solidFill>
                <a:latin typeface="Calibri"/>
              </a:rPr>
              <a:t>Agent articulates their reasoning and submits the proposal to the committee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19856"/>
            <a:ext cx="457200" cy="4572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198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65576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AD7E8"/>
                </a:solidFill>
                <a:latin typeface="Calibri"/>
              </a:rPr>
              <a:t>All other agents evaluate the proposal — satisfaction scores shift based on alignment with their priorities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69664"/>
            <a:ext cx="457200" cy="4572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696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1538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AD7E8"/>
                </a:solidFill>
                <a:latin typeface="Calibri"/>
              </a:rPr>
              <a:t>Proposal is logged to the design canvas if no veto threshold is triggered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919472"/>
            <a:ext cx="457200" cy="4572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919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965192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AD7E8"/>
                </a:solidFill>
                <a:latin typeface="Calibri"/>
              </a:rPr>
              <a:t>Turn passes to the next agent; the cycle continues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234440"/>
            <a:ext cx="5760720" cy="48006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  <a:latin typeface="Calibri"/>
              </a:rPr>
              <a:t>Satisfaction Score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7E8"/>
                </a:solidFill>
                <a:latin typeface="Calibri"/>
              </a:rPr>
              <a:t>👩‍👧 Young Mother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1993392"/>
            <a:ext cx="2926080" cy="256032"/>
          </a:xfrm>
          <a:prstGeom prst="rect">
            <a:avLst/>
          </a:prstGeom>
          <a:solidFill>
            <a:srgbClr val="2A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95360" y="1993392"/>
            <a:ext cx="2282342" cy="256032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0" y="1965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78%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6700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7E8"/>
                </a:solidFill>
                <a:latin typeface="Calibri"/>
              </a:rPr>
              <a:t>☕ Café Owner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2743200"/>
            <a:ext cx="2926080" cy="256032"/>
          </a:xfrm>
          <a:prstGeom prst="rect">
            <a:avLst/>
          </a:prstGeom>
          <a:solidFill>
            <a:srgbClr val="2A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95360" y="2743200"/>
            <a:ext cx="1814169" cy="256032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12880" y="271576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62%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4198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7E8"/>
                </a:solidFill>
                <a:latin typeface="Calibri"/>
              </a:rPr>
              <a:t>🌿 Environmentalist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3493008"/>
            <a:ext cx="2926080" cy="256032"/>
          </a:xfrm>
          <a:prstGeom prst="rect">
            <a:avLst/>
          </a:prstGeom>
          <a:solidFill>
            <a:srgbClr val="2A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95360" y="3493008"/>
            <a:ext cx="2662732" cy="2560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12880" y="34655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91%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16966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7E8"/>
                </a:solidFill>
                <a:latin typeface="Calibri"/>
              </a:rPr>
              <a:t>🧓 Senior Citizen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95360" y="4242816"/>
            <a:ext cx="2926080" cy="256032"/>
          </a:xfrm>
          <a:prstGeom prst="rect">
            <a:avLst/>
          </a:prstGeom>
          <a:solidFill>
            <a:srgbClr val="2A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95360" y="4242816"/>
            <a:ext cx="1609344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12880" y="421538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55%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919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7E8"/>
                </a:solidFill>
                <a:latin typeface="Calibri"/>
              </a:rPr>
              <a:t>🎮 Teenager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4992624"/>
            <a:ext cx="2926080" cy="256032"/>
          </a:xfrm>
          <a:prstGeom prst="rect">
            <a:avLst/>
          </a:prstGeom>
          <a:solidFill>
            <a:srgbClr val="2A3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95360" y="4992624"/>
            <a:ext cx="2165299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12880" y="49651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74%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5669280"/>
            <a:ext cx="5394960" cy="777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5742432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D1B2A"/>
                </a:solidFill>
                <a:latin typeface="Calibri"/>
              </a:rPr>
              <a:t>🗳  Vote triggered after every 3 turns — 70% consensus required to ratify the design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144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B788"/>
                </a:solidFill>
                <a:latin typeface="Calibri"/>
              </a:rPr>
              <a:t>GENERATIVE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Living Design Canvas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943600" cy="46634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2B788"/>
                </a:solidFill>
                <a:latin typeface="Calibri"/>
              </a:rPr>
              <a:t>🗺  EMERGING PUBLIC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011680"/>
            <a:ext cx="1005840" cy="822960"/>
          </a:xfrm>
          <a:prstGeom prst="rect">
            <a:avLst/>
          </a:prstGeom>
          <a:solidFill>
            <a:srgbClr val="28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011680"/>
            <a:ext cx="100584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1031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🌳 Trees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828800"/>
            <a:ext cx="1280160" cy="1005840"/>
          </a:xfrm>
          <a:prstGeom prst="rect">
            <a:avLst/>
          </a:prstGeom>
          <a:solidFill>
            <a:srgbClr val="543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1828800"/>
            <a:ext cx="1280160" cy="36576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1920240"/>
            <a:ext cx="1188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🛝 Playground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1920240"/>
            <a:ext cx="822960" cy="640080"/>
          </a:xfrm>
          <a:prstGeom prst="rect">
            <a:avLst/>
          </a:prstGeom>
          <a:solidFill>
            <a:srgbClr val="144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1920" y="1920240"/>
            <a:ext cx="8229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20116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💧 Fountain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108960"/>
            <a:ext cx="2011680" cy="640080"/>
          </a:xfrm>
          <a:prstGeom prst="rect">
            <a:avLst/>
          </a:prstGeom>
          <a:solidFill>
            <a:srgbClr val="524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3108960"/>
            <a:ext cx="2011680" cy="36576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32004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☕ Café Seating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2926080"/>
            <a:ext cx="1097280" cy="914400"/>
          </a:xfrm>
          <a:prstGeom prst="rect">
            <a:avLst/>
          </a:prstGeom>
          <a:solidFill>
            <a:srgbClr val="543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49039" y="2926080"/>
            <a:ext cx="109728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59" y="3017520"/>
            <a:ext cx="10058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🛹 Skate Zone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3931920"/>
            <a:ext cx="914400" cy="731520"/>
          </a:xfrm>
          <a:prstGeom prst="rect">
            <a:avLst/>
          </a:prstGeom>
          <a:solidFill>
            <a:srgbClr val="144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931920"/>
            <a:ext cx="914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023359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🪑 Benches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3840480"/>
            <a:ext cx="1280160" cy="822960"/>
          </a:xfrm>
          <a:prstGeom prst="rect">
            <a:avLst/>
          </a:prstGeom>
          <a:solidFill>
            <a:srgbClr val="3B3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0" y="3840480"/>
            <a:ext cx="1280160" cy="36576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31720" y="3931920"/>
            <a:ext cx="11887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🎨 Art Wall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0" y="4023360"/>
            <a:ext cx="1097280" cy="640080"/>
          </a:xfrm>
          <a:prstGeom prst="rect">
            <a:avLst/>
          </a:prstGeom>
          <a:solidFill>
            <a:srgbClr val="385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0" y="4023360"/>
            <a:ext cx="1097280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6200" y="4114800"/>
            <a:ext cx="1005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♿ Access Path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1234440"/>
            <a:ext cx="5120640" cy="46634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1371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2B788"/>
                </a:solidFill>
                <a:latin typeface="Calibri"/>
              </a:rPr>
              <a:t>Design Elements by Stakeholder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1874519"/>
            <a:ext cx="73152" cy="59436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187451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6B9D"/>
                </a:solidFill>
                <a:latin typeface="Calibri"/>
              </a:rPr>
              <a:t>Young Mother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217627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7E8"/>
                </a:solidFill>
                <a:latin typeface="Calibri"/>
              </a:rPr>
              <a:t>Playground equipment · Safety fencing · Wide paved paths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60" y="2624327"/>
            <a:ext cx="73152" cy="59436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262432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7C54B"/>
                </a:solidFill>
                <a:latin typeface="Calibri"/>
              </a:rPr>
              <a:t>Café Owner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2926079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7E8"/>
                </a:solidFill>
                <a:latin typeface="Calibri"/>
              </a:rPr>
              <a:t>Outdoor seating · Covered canopy · Commercial kiosks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66560" y="3374135"/>
            <a:ext cx="73152" cy="59436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49440" y="3374135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2B788"/>
                </a:solidFill>
                <a:latin typeface="Calibri"/>
              </a:rPr>
              <a:t>Environmentalist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675887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7E8"/>
                </a:solidFill>
                <a:latin typeface="Calibri"/>
              </a:rPr>
              <a:t>Native tree clusters · Rain gardens · Bike racks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0" y="4123944"/>
            <a:ext cx="73152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0" y="412394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B4D8"/>
                </a:solidFill>
                <a:latin typeface="Calibri"/>
              </a:rPr>
              <a:t>Senior Citizen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42569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7E8"/>
                </a:solidFill>
                <a:latin typeface="Calibri"/>
              </a:rPr>
              <a:t>Shaded benches · Low-step paths · Quiet zones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66560" y="4873752"/>
            <a:ext cx="73152" cy="5943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49440" y="4873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6B35"/>
                </a:solidFill>
                <a:latin typeface="Calibri"/>
              </a:rPr>
              <a:t>Teenager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517550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7E8"/>
                </a:solidFill>
                <a:latin typeface="Calibri"/>
              </a:rPr>
              <a:t>Skate park · Public art murals · WiFi hotspots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144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C54B"/>
                </a:solidFill>
                <a:latin typeface="Calibri"/>
              </a:rPr>
              <a:t>DEMOCRATIC CONSENSUS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70% Consensus Voting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371600"/>
            <a:ext cx="3108960" cy="31089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55448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7C54B"/>
                </a:solidFill>
                <a:latin typeface="Calibri"/>
              </a:rPr>
              <a:t>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  <a:latin typeface="Calibri"/>
              </a:rPr>
              <a:t>CONSENSUS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337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7E8"/>
                </a:solidFill>
                <a:latin typeface="Calibri"/>
              </a:rPr>
              <a:t>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3749039" cy="46634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C54B"/>
                </a:solidFill>
                <a:latin typeface="Calibri"/>
              </a:rPr>
              <a:t>🗳  Voting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965960"/>
            <a:ext cx="274320" cy="27432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65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98424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7E8"/>
                </a:solidFill>
                <a:latin typeface="Calibri"/>
              </a:rPr>
              <a:t>Vote occurs after every 3 negotiation turns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78608"/>
            <a:ext cx="274320" cy="27432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578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9689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7E8"/>
                </a:solidFill>
                <a:latin typeface="Calibri"/>
              </a:rPr>
              <a:t>Each of the 5 agents casts a weighted vote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91256"/>
            <a:ext cx="274320" cy="27432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1912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20954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7E8"/>
                </a:solidFill>
                <a:latin typeface="Calibri"/>
              </a:rPr>
              <a:t>A proposal needs ≥70% approval to 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03904"/>
            <a:ext cx="274320" cy="27432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8039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22191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7E8"/>
                </a:solidFill>
                <a:latin typeface="Calibri"/>
              </a:rPr>
              <a:t>Failed votes trigger a new round of negotiation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416552"/>
            <a:ext cx="274320" cy="27432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4165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3484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7E8"/>
                </a:solidFill>
                <a:latin typeface="Calibri"/>
              </a:rPr>
              <a:t>Agents may revise proposals based on feedback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029200"/>
            <a:ext cx="274320" cy="27432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029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4748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7E8"/>
                </a:solidFill>
                <a:latin typeface="Calibri"/>
              </a:rPr>
              <a:t>Final approved plan is locked to the canvas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234440"/>
            <a:ext cx="3749039" cy="46634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C54B"/>
                </a:solidFill>
                <a:latin typeface="Calibri"/>
              </a:rPr>
              <a:t>📊  Vote Outcomes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1965960"/>
            <a:ext cx="3383280" cy="10972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1965960"/>
            <a:ext cx="338328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20574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2B788"/>
                </a:solidFill>
                <a:latin typeface="Calibri"/>
              </a:rPr>
              <a:t>✅ Approved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39572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7E8"/>
                </a:solidFill>
                <a:latin typeface="Calibri"/>
              </a:rPr>
              <a:t>Design element is added to the canvas. Agents record higher satisfaction.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3246120"/>
            <a:ext cx="3383280" cy="10972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83879" y="3246120"/>
            <a:ext cx="338328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3375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Calibri"/>
              </a:rPr>
              <a:t>❌ Rejected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675887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7E8"/>
                </a:solidFill>
                <a:latin typeface="Calibri"/>
              </a:rPr>
              <a:t>Proposal is shelved. Agents re-enter negotiation with revised priorities.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79" y="4526279"/>
            <a:ext cx="3383280" cy="10972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83879" y="4526279"/>
            <a:ext cx="33832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61771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⚖️ Deadlock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956047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7E8"/>
                </a:solidFill>
                <a:latin typeface="Calibri"/>
              </a:rPr>
              <a:t>If 3 votes fail consecutively, a mediator rule triggers a forced compromise.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053328"/>
            <a:ext cx="11430000" cy="566928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6108192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🏙  When consensus is reached — the negotiated city block is finalized. A new public space is born from democratic process.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144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  <a:latin typeface="Calibri"/>
              </a:rPr>
              <a:t>DESIGN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Embodying Design Thinking &amp; Innovation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194560" cy="4114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1945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1371600"/>
            <a:ext cx="68580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D1B2A"/>
                </a:solidFill>
                <a:latin typeface="Calibri"/>
              </a:rPr>
              <a:t>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1284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EMPATHIZE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743200"/>
            <a:ext cx="202996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7E8"/>
                </a:solidFill>
                <a:latin typeface="Calibri"/>
              </a:rPr>
              <a:t>Each AI agent is built with a deep persona model reflecting real human concerns, lived experiences, and emotional stakes in public space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79" y="1234440"/>
            <a:ext cx="2194560" cy="4114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79" y="1234440"/>
            <a:ext cx="2194560" cy="64008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7287" y="1371600"/>
            <a:ext cx="685800" cy="685800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7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D1B2A"/>
                </a:solidFill>
                <a:latin typeface="Calibri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21284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B72CF"/>
                </a:solidFill>
                <a:latin typeface="Calibri"/>
              </a:rPr>
              <a:t>DEFINE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2743200"/>
            <a:ext cx="202996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7E8"/>
                </a:solidFill>
                <a:latin typeface="Calibri"/>
              </a:rPr>
              <a:t>Conflicting priorities surface automatically through the negotiation system, clearly defining the problem space as a set of human needs to balance.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234440"/>
            <a:ext cx="2194560" cy="4114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1234440"/>
            <a:ext cx="2194560" cy="64008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79008" y="1371600"/>
            <a:ext cx="685800" cy="68580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79008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D1B2A"/>
                </a:solidFill>
                <a:latin typeface="Calibri"/>
              </a:rPr>
              <a:t>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21284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7C54B"/>
                </a:solidFill>
                <a:latin typeface="Calibri"/>
              </a:rPr>
              <a:t>IDEATE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2743200"/>
            <a:ext cx="202996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7E8"/>
                </a:solidFill>
                <a:latin typeface="Calibri"/>
              </a:rPr>
              <a:t>Every proposal round generates fresh design ideas rooted in stakeholder perspectives — producing a diverse, unexpected solution space.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19" y="1234440"/>
            <a:ext cx="2194560" cy="4114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0919" y="1234440"/>
            <a:ext cx="219456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10727" y="1371600"/>
            <a:ext cx="685800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0727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D1B2A"/>
                </a:solidFill>
                <a:latin typeface="Calibri"/>
              </a:rPr>
              <a:t>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59" y="221284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  <a:latin typeface="Calibri"/>
              </a:rPr>
              <a:t>PROTOTYPE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0647" y="2743200"/>
            <a:ext cx="202996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7E8"/>
                </a:solidFill>
                <a:latin typeface="Calibri"/>
              </a:rPr>
              <a:t>The visual canvas renders the evolving design in real-time, creating a live, interactive prototype that changes with each negotiation turn.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92640" y="1234440"/>
            <a:ext cx="2194560" cy="41148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92640" y="1234440"/>
            <a:ext cx="2194560" cy="6400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42448" y="1371600"/>
            <a:ext cx="685800" cy="6858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42448" y="1371600"/>
            <a:ext cx="685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D1B2A"/>
                </a:solidFill>
                <a:latin typeface="Calibri"/>
              </a:rP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212848"/>
            <a:ext cx="2057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2B788"/>
                </a:solidFill>
                <a:latin typeface="Calibri"/>
              </a:rPr>
              <a:t>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7" y="2743200"/>
            <a:ext cx="2029968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AD7E8"/>
                </a:solidFill>
                <a:latin typeface="Calibri"/>
              </a:rPr>
              <a:t>The 70% voting mechanism is a structured test of consensus. Failed votes loop back to ideation, embedding iteration at the system's core.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3154680"/>
            <a:ext cx="137160" cy="54864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92040" y="3154680"/>
            <a:ext cx="137160" cy="54864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23759" y="3154680"/>
            <a:ext cx="137160" cy="54864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55480" y="3154680"/>
            <a:ext cx="137160" cy="54864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5577840"/>
            <a:ext cx="11430000" cy="82296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5577840"/>
            <a:ext cx="64008" cy="82296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65099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E0EF"/>
                </a:solidFill>
                <a:latin typeface="Calibri"/>
              </a:rPr>
              <a:t>"The Negotiating City doesn't just apply Design Thinking — it operationalizes it as a living system where the five stages loop continuously through every negotiation cycle."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144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72CF"/>
                </a:solidFill>
                <a:latin typeface="Calibri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Decentralized Multi-Agent System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325880"/>
            <a:ext cx="3017520" cy="822960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371600"/>
            <a:ext cx="29260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🧠  ORCHESTRATOR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737360" cy="150876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645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👩‍👧
Young
Mother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502920"/>
            <a:ext cx="1737360" cy="150876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594360"/>
            <a:ext cx="1645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☕
Café
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502920"/>
            <a:ext cx="1737360" cy="150876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594360"/>
            <a:ext cx="1645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🌿
Environ-
mentalist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1737360" cy="1508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31920"/>
            <a:ext cx="1645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🧓
Senior
Citizen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3840480"/>
            <a:ext cx="1737360" cy="1508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3931920"/>
            <a:ext cx="1645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🎮
Teenager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1645920"/>
            <a:ext cx="2377440" cy="54864"/>
          </a:xfrm>
          <a:prstGeom prst="rect">
            <a:avLst/>
          </a:prstGeom>
          <a:solidFill>
            <a:srgbClr val="CA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1645920"/>
            <a:ext cx="1737360" cy="54864"/>
          </a:xfrm>
          <a:prstGeom prst="rect">
            <a:avLst/>
          </a:prstGeom>
          <a:solidFill>
            <a:srgbClr val="CA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0" y="4297680"/>
            <a:ext cx="2377440" cy="54864"/>
          </a:xfrm>
          <a:prstGeom prst="rect">
            <a:avLst/>
          </a:prstGeom>
          <a:solidFill>
            <a:srgbClr val="CA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4297680"/>
            <a:ext cx="1737360" cy="54864"/>
          </a:xfrm>
          <a:prstGeom prst="rect">
            <a:avLst/>
          </a:prstGeom>
          <a:solidFill>
            <a:srgbClr val="CAD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743200"/>
            <a:ext cx="2377440" cy="21031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743200"/>
            <a:ext cx="23774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  <a:latin typeface="Calibri"/>
              </a:rPr>
              <a:t>Proposal
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5204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7E8"/>
                </a:solidFill>
                <a:latin typeface="Calibri"/>
              </a:rPr>
              <a:t>Generates design proposals from persona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2743200"/>
            <a:ext cx="2377440" cy="21031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08960" y="2743200"/>
            <a:ext cx="2377440" cy="54864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7C54B"/>
                </a:solidFill>
                <a:latin typeface="Calibri"/>
              </a:rPr>
              <a:t>Reaction
Module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5204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7E8"/>
                </a:solidFill>
                <a:latin typeface="Calibri"/>
              </a:rPr>
              <a:t>Scores satisfaction delta per proposal type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2743200"/>
            <a:ext cx="2377440" cy="21031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52160" y="2743200"/>
            <a:ext cx="237744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2B788"/>
                </a:solidFill>
                <a:latin typeface="Calibri"/>
              </a:rPr>
              <a:t>Canvas
Renderer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5204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7E8"/>
                </a:solidFill>
                <a:latin typeface="Calibri"/>
              </a:rPr>
              <a:t>Draws approved elements to visual grid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2743200"/>
            <a:ext cx="2377440" cy="21031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95360" y="2743200"/>
            <a:ext cx="237744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  <a:latin typeface="Calibri"/>
              </a:rPr>
              <a:t>Voting
Protocol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5204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7E8"/>
                </a:solidFill>
                <a:latin typeface="Calibri"/>
              </a:rPr>
              <a:t>Tallies votes, checks 70% threshold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074920"/>
            <a:ext cx="11430000" cy="749808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5074920"/>
            <a:ext cx="64008" cy="749808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138928"/>
            <a:ext cx="10972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AD7E8"/>
                </a:solidFill>
                <a:latin typeface="Calibri"/>
              </a:rPr>
              <a:t>Key Principle: No single agent controls the outcome. Complex, creative solutions emerge from local interactions — a hallmark of true decentralized multi-agent 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91440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  <a:latin typeface="Calibri"/>
              </a:rPr>
              <a:t>INNOVATION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11880" cy="1920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6118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39"/>
            <a:ext cx="54864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63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D1B2A"/>
                </a:solidFill>
                <a:latin typeface="Calibri"/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4813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Emergent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7E8"/>
                </a:solidFill>
                <a:latin typeface="Calibri"/>
              </a:rPr>
              <a:t>Complex solutions arise from simple negotiation rules — no top-down programming of outcomes.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280160"/>
            <a:ext cx="3611880" cy="1920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280160"/>
            <a:ext cx="3611880" cy="54864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463039"/>
            <a:ext cx="548640" cy="54864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463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D1B2A"/>
                </a:solidFill>
                <a:latin typeface="Calibri"/>
              </a:rPr>
              <a:t>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4813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Real-World 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03120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7E8"/>
                </a:solidFill>
                <a:latin typeface="Calibri"/>
              </a:rPr>
              <a:t>Models actual community dynamics that planners face when designing inclusive public spaces.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611880" cy="1920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80160"/>
            <a:ext cx="3611880" cy="54864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463039"/>
            <a:ext cx="548640" cy="54864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463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D1B2A"/>
                </a:solidFill>
                <a:latin typeface="Calibri"/>
              </a:rPr>
              <a:t>⚖️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148132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Democratic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103120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7E8"/>
                </a:solidFill>
                <a:latin typeface="Calibri"/>
              </a:rPr>
              <a:t>Demonstrates how AI agents can embody values, compromise, and participate in collective decision-making.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83279"/>
            <a:ext cx="3611880" cy="1920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383279"/>
            <a:ext cx="36118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566160"/>
            <a:ext cx="548640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566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D1B2A"/>
                </a:solidFill>
                <a:latin typeface="Calibri"/>
              </a:rPr>
              <a:t>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5844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Iterative Prototyping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06240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7E8"/>
                </a:solidFill>
                <a:latin typeface="Calibri"/>
              </a:rPr>
              <a:t>Each voting round refines the design, mirroring agile development and lean startup cycles.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3383279"/>
            <a:ext cx="3611880" cy="1920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51960" y="3383279"/>
            <a:ext cx="3611880" cy="54864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3566160"/>
            <a:ext cx="548640" cy="548640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3566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D1B2A"/>
                </a:solidFill>
                <a:latin typeface="Calibri"/>
              </a:rPr>
              <a:t>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74920" y="35844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Inclusive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206240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7E8"/>
                </a:solidFill>
                <a:latin typeface="Calibri"/>
              </a:rPr>
              <a:t>Forces every proposal to be weighed against five different human realities, not just one.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3383279"/>
            <a:ext cx="3611880" cy="192024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3383279"/>
            <a:ext cx="3611880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75320" y="3566160"/>
            <a:ext cx="548640" cy="54864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3566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D1B2A"/>
                </a:solidFill>
                <a:latin typeface="Calibri"/>
              </a:rPr>
              <a:t>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35844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Educational Tool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206240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7E8"/>
                </a:solidFill>
                <a:latin typeface="Calibri"/>
              </a:rPr>
              <a:t>Teaches systems thinking, multi-agent design, and urban planning in a tangible, engaging format.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669280"/>
            <a:ext cx="11430000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7424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1B2A"/>
                </a:solidFill>
                <a:latin typeface="Calibri"/>
              </a:rPr>
              <a:t>🌟  The Negotiating City is a proof of concept that AI can be a collaborative partner in designing our shared future — not a replacement for human values.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94360" cy="1097280"/>
          </a:xfrm>
          <a:prstGeom prst="rect">
            <a:avLst/>
          </a:prstGeom>
          <a:solidFill>
            <a:srgbClr val="0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148840"/>
            <a:ext cx="594360" cy="1097280"/>
          </a:xfrm>
          <a:prstGeom prst="rect">
            <a:avLst/>
          </a:prstGeom>
          <a:solidFill>
            <a:srgbClr val="0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383280"/>
            <a:ext cx="594360" cy="1097280"/>
          </a:xfrm>
          <a:prstGeom prst="rect">
            <a:avLst/>
          </a:prstGeom>
          <a:solidFill>
            <a:srgbClr val="0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4617720"/>
            <a:ext cx="594360" cy="1097280"/>
          </a:xfrm>
          <a:prstGeom prst="rect">
            <a:avLst/>
          </a:prstGeom>
          <a:solidFill>
            <a:srgbClr val="0B2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914400"/>
            <a:ext cx="594360" cy="1097280"/>
          </a:xfrm>
          <a:prstGeom prst="rect">
            <a:avLst/>
          </a:prstGeom>
          <a:solidFill>
            <a:srgbClr val="15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2688" y="2148840"/>
            <a:ext cx="594360" cy="1097280"/>
          </a:xfrm>
          <a:prstGeom prst="rect">
            <a:avLst/>
          </a:prstGeom>
          <a:solidFill>
            <a:srgbClr val="15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" y="3383280"/>
            <a:ext cx="594360" cy="1097280"/>
          </a:xfrm>
          <a:prstGeom prst="rect">
            <a:avLst/>
          </a:prstGeom>
          <a:solidFill>
            <a:srgbClr val="15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2688" y="4617720"/>
            <a:ext cx="594360" cy="1097280"/>
          </a:xfrm>
          <a:prstGeom prst="rect">
            <a:avLst/>
          </a:prstGeom>
          <a:solidFill>
            <a:srgbClr val="15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91056" y="914400"/>
            <a:ext cx="594360" cy="1097280"/>
          </a:xfrm>
          <a:prstGeom prst="rect">
            <a:avLst/>
          </a:prstGeom>
          <a:solidFill>
            <a:srgbClr val="292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91056" y="2148840"/>
            <a:ext cx="594360" cy="1097280"/>
          </a:xfrm>
          <a:prstGeom prst="rect">
            <a:avLst/>
          </a:prstGeom>
          <a:solidFill>
            <a:srgbClr val="292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91056" y="3383280"/>
            <a:ext cx="594360" cy="1097280"/>
          </a:xfrm>
          <a:prstGeom prst="rect">
            <a:avLst/>
          </a:prstGeom>
          <a:solidFill>
            <a:srgbClr val="292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91056" y="4617720"/>
            <a:ext cx="594360" cy="1097280"/>
          </a:xfrm>
          <a:prstGeom prst="rect">
            <a:avLst/>
          </a:prstGeom>
          <a:solidFill>
            <a:srgbClr val="292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49424" y="914400"/>
            <a:ext cx="594360" cy="1097280"/>
          </a:xfrm>
          <a:prstGeom prst="rect">
            <a:avLst/>
          </a:prstGeom>
          <a:solidFill>
            <a:srgbClr val="1E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49424" y="2148840"/>
            <a:ext cx="594360" cy="1097280"/>
          </a:xfrm>
          <a:prstGeom prst="rect">
            <a:avLst/>
          </a:prstGeom>
          <a:solidFill>
            <a:srgbClr val="1E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49424" y="3383280"/>
            <a:ext cx="594360" cy="1097280"/>
          </a:xfrm>
          <a:prstGeom prst="rect">
            <a:avLst/>
          </a:prstGeom>
          <a:solidFill>
            <a:srgbClr val="1E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49424" y="4617720"/>
            <a:ext cx="594360" cy="1097280"/>
          </a:xfrm>
          <a:prstGeom prst="rect">
            <a:avLst/>
          </a:prstGeom>
          <a:solidFill>
            <a:srgbClr val="1E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07791" y="914400"/>
            <a:ext cx="594360" cy="1097280"/>
          </a:xfrm>
          <a:prstGeom prst="rect">
            <a:avLst/>
          </a:prstGeom>
          <a:solidFill>
            <a:srgbClr val="2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07791" y="2148840"/>
            <a:ext cx="594360" cy="1097280"/>
          </a:xfrm>
          <a:prstGeom prst="rect">
            <a:avLst/>
          </a:prstGeom>
          <a:solidFill>
            <a:srgbClr val="2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1" y="3383280"/>
            <a:ext cx="594360" cy="1097280"/>
          </a:xfrm>
          <a:prstGeom prst="rect">
            <a:avLst/>
          </a:prstGeom>
          <a:solidFill>
            <a:srgbClr val="2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07791" y="4617720"/>
            <a:ext cx="594360" cy="1097280"/>
          </a:xfrm>
          <a:prstGeom prst="rect">
            <a:avLst/>
          </a:prstGeom>
          <a:solidFill>
            <a:srgbClr val="2A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66159" y="914400"/>
            <a:ext cx="594360" cy="1097280"/>
          </a:xfrm>
          <a:prstGeom prst="rect">
            <a:avLst/>
          </a:prstGeom>
          <a:solidFill>
            <a:srgbClr val="1C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59" y="2148840"/>
            <a:ext cx="594360" cy="1097280"/>
          </a:xfrm>
          <a:prstGeom prst="rect">
            <a:avLst/>
          </a:prstGeom>
          <a:solidFill>
            <a:srgbClr val="1C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66159" y="3383280"/>
            <a:ext cx="594360" cy="1097280"/>
          </a:xfrm>
          <a:prstGeom prst="rect">
            <a:avLst/>
          </a:prstGeom>
          <a:solidFill>
            <a:srgbClr val="1C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66159" y="4617720"/>
            <a:ext cx="594360" cy="1097280"/>
          </a:xfrm>
          <a:prstGeom prst="rect">
            <a:avLst/>
          </a:prstGeom>
          <a:solidFill>
            <a:srgbClr val="1C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10972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BUILD THE FUTURE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1645920"/>
            <a:ext cx="7589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Where compromise
becomes creation.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2461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AD7E8"/>
                </a:solidFill>
                <a:latin typeface="Calibri"/>
              </a:rPr>
              <a:t>The Negotiating City shows that the best designs
emerge not from a single genius — but from the
messy, democratic process of many voices.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4572000"/>
            <a:ext cx="228600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5262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00B4D8"/>
                </a:solidFill>
                <a:latin typeface="Calibri"/>
              </a:rPr>
              <a:t>Multi-Agent Systems </a:t>
            </a:r>
            <a:r>
              <a:rPr sz="1200">
                <a:solidFill>
                  <a:srgbClr val="CAD7E8"/>
                </a:solidFill>
                <a:latin typeface="Calibri"/>
              </a:rPr>
              <a:t>can model real human complexity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4956048"/>
            <a:ext cx="228600" cy="228600"/>
          </a:xfrm>
          <a:prstGeom prst="rect">
            <a:avLst/>
          </a:prstGeom>
          <a:solidFill>
            <a:srgbClr val="F7C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4910328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F7C54B"/>
                </a:solidFill>
                <a:latin typeface="Calibri"/>
              </a:rPr>
              <a:t>Generative Design </a:t>
            </a:r>
            <a:r>
              <a:rPr sz="1200">
                <a:solidFill>
                  <a:srgbClr val="CAD7E8"/>
                </a:solidFill>
                <a:latin typeface="Calibri"/>
              </a:rPr>
              <a:t>emerges from structured negotiation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5340096"/>
            <a:ext cx="228600" cy="2286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5294376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52B788"/>
                </a:solidFill>
                <a:latin typeface="Calibri"/>
              </a:rPr>
              <a:t>Design Thinking </a:t>
            </a:r>
            <a:r>
              <a:rPr sz="1200">
                <a:solidFill>
                  <a:srgbClr val="CAD7E8"/>
                </a:solidFill>
                <a:latin typeface="Calibri"/>
              </a:rPr>
              <a:t>is embedded in every system loop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5724144"/>
            <a:ext cx="228600" cy="228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0" y="5678424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FF6B35"/>
                </a:solidFill>
                <a:latin typeface="Calibri"/>
              </a:rPr>
              <a:t>Democratic AI </a:t>
            </a:r>
            <a:r>
              <a:rPr sz="1200">
                <a:solidFill>
                  <a:srgbClr val="CAD7E8"/>
                </a:solidFill>
                <a:latin typeface="Calibri"/>
              </a:rPr>
              <a:t>ensures no single voice dominates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6217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AD7E8"/>
                </a:solidFill>
                <a:latin typeface="Calibri"/>
              </a:rPr>
              <a:t>🏙  The Negotiating City — A Multi-Agent Urban Co-Design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